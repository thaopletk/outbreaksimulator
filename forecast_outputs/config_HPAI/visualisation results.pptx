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480" y="6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86C67-549F-8812-2012-78793DC915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5A2163-364D-1A64-9696-DF9FAF4369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2008C4-D0B3-1CB7-D04D-0FD0357EE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0B24-9628-404E-9651-3D1A2CA34903}" type="datetimeFigureOut">
              <a:rPr lang="en-AU" smtClean="0"/>
              <a:t>23/10/2026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FC3BD7-C13D-C170-CDE8-285E70816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C4B9F-36FF-C557-F385-9945BE966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EE3E9-A0D3-4CD0-8E97-7A7D66638D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4636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2A292-C324-82FE-F191-4610EA1F0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4EE2D-A8B6-3B6A-F312-F1C1587D1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13B11-6C1F-9DEB-C651-6E57CA0A6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0B24-9628-404E-9651-3D1A2CA34903}" type="datetimeFigureOut">
              <a:rPr lang="en-AU" smtClean="0"/>
              <a:t>23/10/2026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8FF83-E2A5-AD37-3EAB-C69FCEF1C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80B74-B79B-3AE9-EF82-B7DF26D01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EE3E9-A0D3-4CD0-8E97-7A7D66638D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3552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7E2AD-A007-07D3-7198-D7B943C6E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7A972E-DFED-541F-7BA1-89497ABDAE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59CA20-607A-9A65-34BC-1B667B227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0B24-9628-404E-9651-3D1A2CA34903}" type="datetimeFigureOut">
              <a:rPr lang="en-AU" smtClean="0"/>
              <a:t>23/10/2026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556251-67C0-E88E-D44F-0EC7BB802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E5D7C-93AF-18D5-CBC4-BE5A0092A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EE3E9-A0D3-4CD0-8E97-7A7D66638D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2596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DA8FA-F63E-9A47-E602-7C49B71FF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0D065-A8A2-6889-DC33-BCF3D4EB12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0966F8-BF6C-A3B6-279F-20C4EE7B83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F14144-D4CE-6D6F-9E6A-E133CC1B1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0B24-9628-404E-9651-3D1A2CA34903}" type="datetimeFigureOut">
              <a:rPr lang="en-AU" smtClean="0"/>
              <a:t>23/10/2026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1E5B0A-8BA5-CD7E-7190-399DBEEC0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3A4E30-3AB6-F1AE-CB98-AB2E37305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EE3E9-A0D3-4CD0-8E97-7A7D66638D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6560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64A36-EFC7-3780-14B2-D10331704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26BA5C-F069-D5B8-B15C-705FE7CB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BDBB9B-EA9B-67AC-7E7E-1BE15729E9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3E2697-0C41-517C-D94D-0FD62D9E7F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7F8C9F-25D1-5E82-8525-22DF0FE8D9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555CAC-AD02-369A-DCF9-EB0D634CD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0B24-9628-404E-9651-3D1A2CA34903}" type="datetimeFigureOut">
              <a:rPr lang="en-AU" smtClean="0"/>
              <a:t>23/10/2026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CE9266-D79B-CF5E-DA1F-AEB94CE89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03214A-ABCD-AEC6-EE3B-EA098D1F5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EE3E9-A0D3-4CD0-8E97-7A7D66638D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3910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DFCB6-DE31-E44C-7519-C3FF0945E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BCB69B-420D-7951-5D6C-80C2066AE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0B24-9628-404E-9651-3D1A2CA34903}" type="datetimeFigureOut">
              <a:rPr lang="en-AU" smtClean="0"/>
              <a:t>23/10/2026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26A95A-0411-40FB-3BB8-26EF5AE05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FF3B5C-3856-CE3F-3F8A-AE99C3A72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EE3E9-A0D3-4CD0-8E97-7A7D66638D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580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03AB60-958E-0489-6467-58CF805E6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0B24-9628-404E-9651-3D1A2CA34903}" type="datetimeFigureOut">
              <a:rPr lang="en-AU" smtClean="0"/>
              <a:t>23/10/2026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A76795-7124-C49C-A45A-EA96CF826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9AD218-F364-4CE3-3340-DF3BF08FD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EE3E9-A0D3-4CD0-8E97-7A7D66638D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2374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BF8C5-6A87-B765-5E6C-A75B041BA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38958-31EA-181F-523A-B3014CB96F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9EDA7C-BDA1-2622-76A1-9CCA0FE06F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CEDF82-366A-8EC9-5AE7-014F62116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0B24-9628-404E-9651-3D1A2CA34903}" type="datetimeFigureOut">
              <a:rPr lang="en-AU" smtClean="0"/>
              <a:t>23/10/2026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77E145-AC6E-FCB4-63D5-9B77681C4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C1388D-A439-BE6E-6C23-5B7F98F7B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EE3E9-A0D3-4CD0-8E97-7A7D66638D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033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64D2C-C0BF-512D-451C-DCBC5CDBC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CE0277-439F-C8A6-9864-2DC03D1A5C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089D2D-26B0-6496-4ED3-C1440B9441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7FEA9F-6034-9833-7746-7F64DB7F6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0B24-9628-404E-9651-3D1A2CA34903}" type="datetimeFigureOut">
              <a:rPr lang="en-AU" smtClean="0"/>
              <a:t>23/10/2026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926382-6E58-4F6E-EF1A-062D71888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A0C78B-9186-6B42-DD8A-9437DFFCF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EE3E9-A0D3-4CD0-8E97-7A7D66638D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4195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4E69A-B820-04E0-07DB-FE8D62BA5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6B35D3-EA35-33C8-C67B-52A3DA0B0B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AE951-BDE9-6E4D-5D7C-B6178CBC8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0B24-9628-404E-9651-3D1A2CA34903}" type="datetimeFigureOut">
              <a:rPr lang="en-AU" smtClean="0"/>
              <a:t>23/10/2026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ADF33-97A2-FD7C-1858-841E75580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D598C-2A7E-B76C-1EF2-2EC1C2BF9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EE3E9-A0D3-4CD0-8E97-7A7D66638D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3660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34D612-8968-A2C1-CB40-48A29C611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D3541C-FC72-6837-DE6C-3209881C0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5E821-8B8A-F148-E2DC-000A48300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0B24-9628-404E-9651-3D1A2CA34903}" type="datetimeFigureOut">
              <a:rPr lang="en-AU" smtClean="0"/>
              <a:t>23/10/2026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CF6247-DDD5-2F23-F497-E32A84FB8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1A637-B135-6C74-FBBA-A5D940A7C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EE3E9-A0D3-4CD0-8E97-7A7D66638D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8517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A84282-3570-7BB9-0EF1-370D510B8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F1F048-69FD-DAB4-2212-F971988EE0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95A75-6B34-6455-DD39-94733AA2B1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BC0B24-9628-404E-9651-3D1A2CA34903}" type="datetimeFigureOut">
              <a:rPr lang="en-AU" smtClean="0"/>
              <a:t>23/10/2026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4A5B5-83A4-3305-A8E8-AA09F90762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225E9-1B22-2ECE-0EE4-649E965E2B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EE3E9-A0D3-4CD0-8E97-7A7D66638D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7552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9E4A0BA-45E1-E2C8-6E33-6B585D6161E3}"/>
              </a:ext>
            </a:extLst>
          </p:cNvPr>
          <p:cNvSpPr txBox="1"/>
          <p:nvPr/>
        </p:nvSpPr>
        <p:spPr>
          <a:xfrm>
            <a:off x="410966" y="410966"/>
            <a:ext cx="1556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err="1"/>
              <a:t>ABC_runtime</a:t>
            </a:r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3ED350-E907-4B88-27B1-54656198F8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09" y="2467962"/>
            <a:ext cx="10881382" cy="21686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52FCF03-7B9D-BA14-7E88-8131E43F8940}"/>
              </a:ext>
            </a:extLst>
          </p:cNvPr>
          <p:cNvSpPr txBox="1"/>
          <p:nvPr/>
        </p:nvSpPr>
        <p:spPr>
          <a:xfrm>
            <a:off x="655309" y="5045283"/>
            <a:ext cx="108003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This shows the computational time required for each generation. Each generation took more than two hours, even though no simulations were rejected.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0B4BFC-F5A0-B6E9-D7FE-60BB15075317}"/>
              </a:ext>
            </a:extLst>
          </p:cNvPr>
          <p:cNvSpPr txBox="1"/>
          <p:nvPr/>
        </p:nvSpPr>
        <p:spPr>
          <a:xfrm>
            <a:off x="410965" y="980032"/>
            <a:ext cx="110447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AU" dirty="0"/>
              <a:t>For this test, I used </a:t>
            </a:r>
            <a:r>
              <a:rPr lang="en-AU" dirty="0" err="1">
                <a:latin typeface="+mn-lt"/>
              </a:rPr>
              <a:t>beta_animal</a:t>
            </a:r>
            <a:r>
              <a:rPr lang="en-AU" dirty="0"/>
              <a:t> and </a:t>
            </a:r>
            <a:r>
              <a:rPr lang="en-AU" dirty="0" err="1">
                <a:latin typeface="+mn-lt"/>
              </a:rPr>
              <a:t>beta_wind</a:t>
            </a:r>
            <a:r>
              <a:rPr lang="en-AU" dirty="0"/>
              <a:t> as the parameters to estimate, running five generations with 60 accepted particles per generation.</a:t>
            </a:r>
          </a:p>
        </p:txBody>
      </p:sp>
    </p:spTree>
    <p:extLst>
      <p:ext uri="{BB962C8B-B14F-4D97-AF65-F5344CB8AC3E}">
        <p14:creationId xmlns:p14="http://schemas.microsoft.com/office/powerpoint/2010/main" val="3967073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C91360E-8DCF-E62F-E4BF-925DD3D2A6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97" y="0"/>
            <a:ext cx="6531429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2D0539A-D2A1-66F3-2194-C2DDBEFF95BC}"/>
              </a:ext>
            </a:extLst>
          </p:cNvPr>
          <p:cNvSpPr txBox="1"/>
          <p:nvPr/>
        </p:nvSpPr>
        <p:spPr>
          <a:xfrm>
            <a:off x="6872801" y="1553281"/>
            <a:ext cx="507800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This shows how the epidemic curves converge across generations. Interestingly, there was very little variation in the epidemic curves, even across 60 different parameter sets. </a:t>
            </a:r>
          </a:p>
          <a:p>
            <a:endParaRPr lang="en-AU" dirty="0"/>
          </a:p>
          <a:p>
            <a:r>
              <a:rPr lang="en-AU" dirty="0"/>
              <a:t>While reviewing these results, I realised that the fitting window was incorrectly specified. Normally, I compared the simulations with observations from </a:t>
            </a:r>
            <a:r>
              <a:rPr lang="en-AU" dirty="0" err="1"/>
              <a:t>t_detect</a:t>
            </a:r>
            <a:r>
              <a:rPr lang="en-AU" dirty="0"/>
              <a:t> to </a:t>
            </a:r>
            <a:r>
              <a:rPr lang="en-AU" dirty="0" err="1"/>
              <a:t>t_today</a:t>
            </a:r>
            <a:r>
              <a:rPr lang="en-AU" dirty="0"/>
              <a:t>. However, since the simulations in this framework start from </a:t>
            </a:r>
            <a:r>
              <a:rPr lang="en-AU" dirty="0" err="1"/>
              <a:t>t_start</a:t>
            </a:r>
            <a:r>
              <a:rPr lang="en-AU" dirty="0"/>
              <a:t>, I think I should use </a:t>
            </a:r>
            <a:r>
              <a:rPr lang="en-AU" dirty="0" err="1"/>
              <a:t>t_start</a:t>
            </a:r>
            <a:r>
              <a:rPr lang="en-AU" dirty="0"/>
              <a:t> to </a:t>
            </a:r>
            <a:r>
              <a:rPr lang="en-AU" dirty="0" err="1"/>
              <a:t>t_today</a:t>
            </a:r>
            <a:r>
              <a:rPr lang="en-AU" dirty="0"/>
              <a:t> as the fitting window instead.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36109CCF-F643-B1F4-61BB-F16BB438EE9D}"/>
              </a:ext>
            </a:extLst>
          </p:cNvPr>
          <p:cNvCxnSpPr>
            <a:cxnSpLocks/>
            <a:stCxn id="10" idx="2"/>
            <a:endCxn id="12" idx="2"/>
          </p:cNvCxnSpPr>
          <p:nvPr/>
        </p:nvCxnSpPr>
        <p:spPr>
          <a:xfrm rot="16200000" flipH="1">
            <a:off x="4410071" y="3919537"/>
            <a:ext cx="12700" cy="571500"/>
          </a:xfrm>
          <a:prstGeom prst="bentConnector3">
            <a:avLst>
              <a:gd name="adj1" fmla="val 483750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B4FB8D0E-57AE-A92F-933D-54AD4716EF79}"/>
              </a:ext>
            </a:extLst>
          </p:cNvPr>
          <p:cNvSpPr/>
          <p:nvPr/>
        </p:nvSpPr>
        <p:spPr>
          <a:xfrm>
            <a:off x="4043358" y="4029075"/>
            <a:ext cx="161925" cy="1762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DACFAD-BE07-EBDD-7F91-18B444DDF5EA}"/>
              </a:ext>
            </a:extLst>
          </p:cNvPr>
          <p:cNvSpPr/>
          <p:nvPr/>
        </p:nvSpPr>
        <p:spPr>
          <a:xfrm>
            <a:off x="4614858" y="4029075"/>
            <a:ext cx="161925" cy="1762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7C56D1-818E-22F2-2A62-4C03336C089C}"/>
              </a:ext>
            </a:extLst>
          </p:cNvPr>
          <p:cNvSpPr txBox="1"/>
          <p:nvPr/>
        </p:nvSpPr>
        <p:spPr>
          <a:xfrm>
            <a:off x="3688080" y="4784935"/>
            <a:ext cx="1646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Fitting window</a:t>
            </a:r>
          </a:p>
        </p:txBody>
      </p:sp>
    </p:spTree>
    <p:extLst>
      <p:ext uri="{BB962C8B-B14F-4D97-AF65-F5344CB8AC3E}">
        <p14:creationId xmlns:p14="http://schemas.microsoft.com/office/powerpoint/2010/main" val="2709233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73084-F107-411D-3A47-2A146A1E3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ADBBE0-AC70-C8A9-A75D-F882418556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522" y="696686"/>
            <a:ext cx="7389221" cy="5000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6AB1A17-A63F-3FED-6408-7F7B2A692EA5}"/>
              </a:ext>
            </a:extLst>
          </p:cNvPr>
          <p:cNvSpPr txBox="1"/>
          <p:nvPr/>
        </p:nvSpPr>
        <p:spPr>
          <a:xfrm>
            <a:off x="1074057" y="327354"/>
            <a:ext cx="2377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Policies up to </a:t>
            </a:r>
            <a:r>
              <a:rPr lang="en-AU" dirty="0" err="1"/>
              <a:t>t_today</a:t>
            </a: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928EEB-461D-8A09-07C1-CE098DB92ACC}"/>
              </a:ext>
            </a:extLst>
          </p:cNvPr>
          <p:cNvSpPr txBox="1"/>
          <p:nvPr/>
        </p:nvSpPr>
        <p:spPr>
          <a:xfrm>
            <a:off x="4470400" y="327354"/>
            <a:ext cx="2146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Policy after </a:t>
            </a:r>
            <a:r>
              <a:rPr lang="en-AU" dirty="0" err="1"/>
              <a:t>t_today</a:t>
            </a:r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0420DF-A5DF-DB2B-A011-C143FEA03BEE}"/>
              </a:ext>
            </a:extLst>
          </p:cNvPr>
          <p:cNvSpPr txBox="1"/>
          <p:nvPr/>
        </p:nvSpPr>
        <p:spPr>
          <a:xfrm rot="5400000">
            <a:off x="2723636" y="1243212"/>
            <a:ext cx="9994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800" dirty="0" err="1"/>
              <a:t>t_today</a:t>
            </a:r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585CBD-4E77-67BA-747D-BC997C7C0463}"/>
              </a:ext>
            </a:extLst>
          </p:cNvPr>
          <p:cNvSpPr txBox="1"/>
          <p:nvPr/>
        </p:nvSpPr>
        <p:spPr>
          <a:xfrm>
            <a:off x="260570" y="5702190"/>
            <a:ext cx="1193142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AU" dirty="0"/>
              <a:t>This shows the fitted results and forecasts from the final generation, with the selected policies displayed above the figure.</a:t>
            </a:r>
          </a:p>
          <a:p>
            <a:pPr>
              <a:buNone/>
            </a:pPr>
            <a:r>
              <a:rPr lang="en-AU" dirty="0"/>
              <a:t>As you can see, there are no visible credible intervals, because all 60 particles produced identical epidemic curves. Also, no additional farms became infected after </a:t>
            </a:r>
            <a:r>
              <a:rPr lang="en-AU" dirty="0" err="1">
                <a:latin typeface="+mn-lt"/>
              </a:rPr>
              <a:t>t_today</a:t>
            </a:r>
            <a:r>
              <a:rPr lang="en-A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24459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FB7F7-FE1A-EC7E-242A-85272A8E4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239A5F-7A2F-3684-6E1E-1239814B97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6496"/>
            <a:ext cx="12192000" cy="33498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0632BB-74B9-B9F4-E1F5-E40D988A4DBB}"/>
              </a:ext>
            </a:extLst>
          </p:cNvPr>
          <p:cNvSpPr txBox="1"/>
          <p:nvPr/>
        </p:nvSpPr>
        <p:spPr>
          <a:xfrm>
            <a:off x="145142" y="4130878"/>
            <a:ext cx="1165497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These maps show the locations of infected farms over three forecast horizons: one week, two weeks, and the entire forecast period after </a:t>
            </a:r>
            <a:r>
              <a:rPr lang="en-AU" dirty="0" err="1"/>
              <a:t>t_today</a:t>
            </a:r>
            <a:r>
              <a:rPr lang="en-AU" dirty="0"/>
              <a:t>. </a:t>
            </a:r>
          </a:p>
          <a:p>
            <a:endParaRPr lang="en-AU" dirty="0"/>
          </a:p>
          <a:p>
            <a:r>
              <a:rPr lang="en-AU" dirty="0"/>
              <a:t>However, since no new infections occurred after </a:t>
            </a:r>
            <a:r>
              <a:rPr lang="en-AU" dirty="0" err="1"/>
              <a:t>t_today</a:t>
            </a:r>
            <a:r>
              <a:rPr lang="en-AU" dirty="0"/>
              <a:t>, only the blue points representing farms infected before </a:t>
            </a:r>
            <a:r>
              <a:rPr lang="en-AU" dirty="0" err="1"/>
              <a:t>t_today</a:t>
            </a:r>
            <a:r>
              <a:rPr lang="en-AU" dirty="0"/>
              <a:t> are visible.</a:t>
            </a:r>
          </a:p>
        </p:txBody>
      </p:sp>
    </p:spTree>
    <p:extLst>
      <p:ext uri="{BB962C8B-B14F-4D97-AF65-F5344CB8AC3E}">
        <p14:creationId xmlns:p14="http://schemas.microsoft.com/office/powerpoint/2010/main" val="1504375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0F09B-A1B4-EA4F-4F95-5C5C5AEEA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08180B-C28F-7BDD-1DE5-DF2305D3EC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952" y="507341"/>
            <a:ext cx="8098552" cy="31684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75EE35F-42EF-9B2F-974C-18CBD617BFC5}"/>
              </a:ext>
            </a:extLst>
          </p:cNvPr>
          <p:cNvSpPr txBox="1"/>
          <p:nvPr/>
        </p:nvSpPr>
        <p:spPr>
          <a:xfrm>
            <a:off x="333933" y="3977865"/>
            <a:ext cx="1152413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This shows the inferred posterior distributions of the parameters. The distributions appear to suggest that the algorithm is learning from the data, although I am not sure how reliable these estimates are given the unusual fitting results.</a:t>
            </a:r>
          </a:p>
          <a:p>
            <a:endParaRPr lang="en-AU" dirty="0"/>
          </a:p>
          <a:p>
            <a:r>
              <a:rPr lang="en-AU" dirty="0"/>
              <a:t>The true parameter values are 1.5 for </a:t>
            </a:r>
            <a:r>
              <a:rPr lang="en-AU" dirty="0" err="1"/>
              <a:t>beta_animal</a:t>
            </a:r>
            <a:r>
              <a:rPr lang="en-AU" dirty="0"/>
              <a:t> and 2.5 for </a:t>
            </a:r>
            <a:r>
              <a:rPr lang="en-AU" dirty="0" err="1"/>
              <a:t>beta_wind</a:t>
            </a:r>
            <a:r>
              <a:rPr lang="en-AU" dirty="0"/>
              <a:t>, respectively.</a:t>
            </a:r>
          </a:p>
        </p:txBody>
      </p:sp>
    </p:spTree>
    <p:extLst>
      <p:ext uri="{BB962C8B-B14F-4D97-AF65-F5344CB8AC3E}">
        <p14:creationId xmlns:p14="http://schemas.microsoft.com/office/powerpoint/2010/main" val="3407363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.potx" id="{65243AFA-FBE6-437B-BD5A-9676CEC506A8}" vid="{32F230DE-0AB6-4FB4-A754-AF77CEC093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6</TotalTime>
  <Words>334</Words>
  <Application>Microsoft Office PowerPoint</Application>
  <PresentationFormat>Widescreen</PresentationFormat>
  <Paragraphs>18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Simin Lee</dc:creator>
  <cp:lastModifiedBy>Simin Lee</cp:lastModifiedBy>
  <cp:revision>1</cp:revision>
  <dcterms:created xsi:type="dcterms:W3CDTF">2026-10-23T03:05:07Z</dcterms:created>
  <dcterms:modified xsi:type="dcterms:W3CDTF">2026-10-23T03:11:15Z</dcterms:modified>
</cp:coreProperties>
</file>